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10287000" cx="18288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2802904" y="9019220"/>
            <a:ext cx="3465428" cy="3943588"/>
          </a:xfrm>
          <a:custGeom>
            <a:avLst/>
            <a:gdLst/>
            <a:ahLst/>
            <a:cxnLst/>
            <a:rect r="r" b="b" t="t" l="l"/>
            <a:pathLst>
              <a:path h="3943588" w="3465428">
                <a:moveTo>
                  <a:pt x="0" y="0"/>
                </a:moveTo>
                <a:lnTo>
                  <a:pt x="3465428" y="0"/>
                </a:lnTo>
                <a:lnTo>
                  <a:pt x="3465428" y="3943588"/>
                </a:lnTo>
                <a:lnTo>
                  <a:pt x="0" y="3943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63882" y="8045750"/>
            <a:ext cx="3390836" cy="3132284"/>
          </a:xfrm>
          <a:custGeom>
            <a:avLst/>
            <a:gdLst/>
            <a:ahLst/>
            <a:cxnLst/>
            <a:rect r="r" b="b" t="t" l="l"/>
            <a:pathLst>
              <a:path h="3132284" w="3390836">
                <a:moveTo>
                  <a:pt x="0" y="0"/>
                </a:moveTo>
                <a:lnTo>
                  <a:pt x="3390836" y="0"/>
                </a:lnTo>
                <a:lnTo>
                  <a:pt x="3390836" y="3132285"/>
                </a:lnTo>
                <a:lnTo>
                  <a:pt x="0" y="31322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35098">
            <a:off x="17012790" y="5558490"/>
            <a:ext cx="2550420" cy="2355951"/>
          </a:xfrm>
          <a:custGeom>
            <a:avLst/>
            <a:gdLst/>
            <a:ahLst/>
            <a:cxnLst/>
            <a:rect r="r" b="b" t="t" l="l"/>
            <a:pathLst>
              <a:path h="2355951" w="2550420">
                <a:moveTo>
                  <a:pt x="0" y="0"/>
                </a:moveTo>
                <a:lnTo>
                  <a:pt x="2550420" y="0"/>
                </a:lnTo>
                <a:lnTo>
                  <a:pt x="2550420" y="2355951"/>
                </a:lnTo>
                <a:lnTo>
                  <a:pt x="0" y="2355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880940">
            <a:off x="-859658" y="693803"/>
            <a:ext cx="3227254" cy="4927105"/>
          </a:xfrm>
          <a:custGeom>
            <a:avLst/>
            <a:gdLst/>
            <a:ahLst/>
            <a:cxnLst/>
            <a:rect r="r" b="b" t="t" l="l"/>
            <a:pathLst>
              <a:path h="4927105" w="3227254">
                <a:moveTo>
                  <a:pt x="3227254" y="0"/>
                </a:moveTo>
                <a:lnTo>
                  <a:pt x="0" y="0"/>
                </a:lnTo>
                <a:lnTo>
                  <a:pt x="0" y="4927105"/>
                </a:lnTo>
                <a:lnTo>
                  <a:pt x="3227254" y="4927105"/>
                </a:lnTo>
                <a:lnTo>
                  <a:pt x="322725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700000">
            <a:off x="-367506" y="-2305346"/>
            <a:ext cx="1826987" cy="4610693"/>
          </a:xfrm>
          <a:custGeom>
            <a:avLst/>
            <a:gdLst/>
            <a:ahLst/>
            <a:cxnLst/>
            <a:rect r="r" b="b" t="t" l="l"/>
            <a:pathLst>
              <a:path h="4610693" w="1826987">
                <a:moveTo>
                  <a:pt x="1826987" y="0"/>
                </a:moveTo>
                <a:lnTo>
                  <a:pt x="0" y="0"/>
                </a:lnTo>
                <a:lnTo>
                  <a:pt x="0" y="4610692"/>
                </a:lnTo>
                <a:lnTo>
                  <a:pt x="1826987" y="4610692"/>
                </a:lnTo>
                <a:lnTo>
                  <a:pt x="1826987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862344">
            <a:off x="2042299" y="-3686438"/>
            <a:ext cx="5543601" cy="5399367"/>
          </a:xfrm>
          <a:custGeom>
            <a:avLst/>
            <a:gdLst/>
            <a:ahLst/>
            <a:cxnLst/>
            <a:rect r="r" b="b" t="t" l="l"/>
            <a:pathLst>
              <a:path h="5399367" w="5543601">
                <a:moveTo>
                  <a:pt x="0" y="0"/>
                </a:moveTo>
                <a:lnTo>
                  <a:pt x="5543601" y="0"/>
                </a:lnTo>
                <a:lnTo>
                  <a:pt x="5543601" y="5399367"/>
                </a:lnTo>
                <a:lnTo>
                  <a:pt x="0" y="53993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233907" y="-4481194"/>
            <a:ext cx="8550234" cy="8229600"/>
          </a:xfrm>
          <a:custGeom>
            <a:avLst/>
            <a:gdLst/>
            <a:ahLst/>
            <a:cxnLst/>
            <a:rect r="r" b="b" t="t" l="l"/>
            <a:pathLst>
              <a:path h="8229600" w="8550234">
                <a:moveTo>
                  <a:pt x="0" y="0"/>
                </a:moveTo>
                <a:lnTo>
                  <a:pt x="8550233" y="0"/>
                </a:lnTo>
                <a:lnTo>
                  <a:pt x="855023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054723" y="7063235"/>
            <a:ext cx="8550234" cy="8229600"/>
          </a:xfrm>
          <a:custGeom>
            <a:avLst/>
            <a:gdLst/>
            <a:ahLst/>
            <a:cxnLst/>
            <a:rect r="r" b="b" t="t" l="l"/>
            <a:pathLst>
              <a:path h="8229600" w="8550234">
                <a:moveTo>
                  <a:pt x="0" y="0"/>
                </a:moveTo>
                <a:lnTo>
                  <a:pt x="8550234" y="0"/>
                </a:lnTo>
                <a:lnTo>
                  <a:pt x="85502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56763" y="7383999"/>
            <a:ext cx="3651885" cy="8229600"/>
          </a:xfrm>
          <a:custGeom>
            <a:avLst/>
            <a:gdLst/>
            <a:ahLst/>
            <a:cxnLst/>
            <a:rect r="r" b="b" t="t" l="l"/>
            <a:pathLst>
              <a:path h="8229600" w="3651885">
                <a:moveTo>
                  <a:pt x="0" y="0"/>
                </a:moveTo>
                <a:lnTo>
                  <a:pt x="3651885" y="0"/>
                </a:lnTo>
                <a:lnTo>
                  <a:pt x="365188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14301621" y="-5072245"/>
            <a:ext cx="3651885" cy="8229600"/>
          </a:xfrm>
          <a:custGeom>
            <a:avLst/>
            <a:gdLst/>
            <a:ahLst/>
            <a:cxnLst/>
            <a:rect r="r" b="b" t="t" l="l"/>
            <a:pathLst>
              <a:path h="8229600" w="3651885">
                <a:moveTo>
                  <a:pt x="0" y="8229600"/>
                </a:moveTo>
                <a:lnTo>
                  <a:pt x="3651885" y="8229600"/>
                </a:lnTo>
                <a:lnTo>
                  <a:pt x="3651885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668325" y="3703311"/>
            <a:ext cx="12951349" cy="197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FARMSMART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24884" y="5562518"/>
            <a:ext cx="11500900" cy="82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b="true" sz="4468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 POWERED FARMING APPLICATION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3683459" y="9258300"/>
            <a:ext cx="2902990" cy="3303545"/>
          </a:xfrm>
          <a:custGeom>
            <a:avLst/>
            <a:gdLst/>
            <a:ahLst/>
            <a:cxnLst/>
            <a:rect r="r" b="b" t="t" l="l"/>
            <a:pathLst>
              <a:path h="3303545" w="2902990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96331" y="8442824"/>
            <a:ext cx="2840504" cy="2623915"/>
          </a:xfrm>
          <a:custGeom>
            <a:avLst/>
            <a:gdLst/>
            <a:ahLst/>
            <a:cxnLst/>
            <a:rect r="r" b="b" t="t" l="l"/>
            <a:pathLst>
              <a:path h="2623915" w="2840504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35098">
            <a:off x="17210081" y="6359246"/>
            <a:ext cx="2136488" cy="1973581"/>
          </a:xfrm>
          <a:custGeom>
            <a:avLst/>
            <a:gdLst/>
            <a:ahLst/>
            <a:cxnLst/>
            <a:rect r="r" b="b" t="t" l="l"/>
            <a:pathLst>
              <a:path h="1973581" w="2136488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880940">
            <a:off x="-1435362" y="779145"/>
            <a:ext cx="2769800" cy="4228703"/>
          </a:xfrm>
          <a:custGeom>
            <a:avLst/>
            <a:gdLst/>
            <a:ahLst/>
            <a:cxnLst/>
            <a:rect r="r" b="b" t="t" l="l"/>
            <a:pathLst>
              <a:path h="4228703" w="2769800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700000">
            <a:off x="-1012971" y="-1794883"/>
            <a:ext cx="1568017" cy="3957141"/>
          </a:xfrm>
          <a:custGeom>
            <a:avLst/>
            <a:gdLst/>
            <a:ahLst/>
            <a:cxnLst/>
            <a:rect r="r" b="b" t="t" l="l"/>
            <a:pathLst>
              <a:path h="3957141" w="1568017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862344">
            <a:off x="1055251" y="-2980210"/>
            <a:ext cx="4757812" cy="4634023"/>
          </a:xfrm>
          <a:custGeom>
            <a:avLst/>
            <a:gdLst/>
            <a:ahLst/>
            <a:cxnLst/>
            <a:rect r="r" b="b" t="t" l="l"/>
            <a:pathLst>
              <a:path h="4634023" w="4757812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97254" y="-4151298"/>
            <a:ext cx="7220316" cy="6949554"/>
          </a:xfrm>
          <a:custGeom>
            <a:avLst/>
            <a:gdLst/>
            <a:ahLst/>
            <a:cxnLst/>
            <a:rect r="r" b="b" t="t" l="l"/>
            <a:pathLst>
              <a:path h="6949554" w="7220316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956983" y="7717344"/>
            <a:ext cx="7467517" cy="7187485"/>
          </a:xfrm>
          <a:custGeom>
            <a:avLst/>
            <a:gdLst/>
            <a:ahLst/>
            <a:cxnLst/>
            <a:rect r="r" b="b" t="t" l="l"/>
            <a:pathLst>
              <a:path h="7187485" w="7467517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13330" y="7997490"/>
            <a:ext cx="3189446" cy="7187485"/>
          </a:xfrm>
          <a:custGeom>
            <a:avLst/>
            <a:gdLst/>
            <a:ahLst/>
            <a:cxnLst/>
            <a:rect r="r" b="b" t="t" l="l"/>
            <a:pathLst>
              <a:path h="7187485" w="3189446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15487811" y="-4650415"/>
            <a:ext cx="3083865" cy="6949554"/>
          </a:xfrm>
          <a:custGeom>
            <a:avLst/>
            <a:gdLst/>
            <a:ahLst/>
            <a:cxnLst/>
            <a:rect r="r" b="b" t="t" l="l"/>
            <a:pathLst>
              <a:path h="6949554" w="3083865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248282" y="1074840"/>
            <a:ext cx="9791436" cy="149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7"/>
              </a:lnSpc>
            </a:pPr>
            <a:r>
              <a:rPr lang="en-US" sz="8698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ABSTRACT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53041" y="3032887"/>
            <a:ext cx="13831296" cy="5118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6"/>
              </a:lnSpc>
              <a:spcBef>
                <a:spcPct val="0"/>
              </a:spcBef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FarmSmart is an AI-driven agricultural platform aimed at revolutionizing traditional farming practices through intellig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 d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is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ion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pport. By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egr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ting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crop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planning, fertilizer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recommendation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s, seed p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rchas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g,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et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tion into a single user-friendly system, FarmSmart empowers f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rs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with re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-t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a-b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cke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ts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An embedded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 chatb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ot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enh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accessibility by delivering expert advice on demand. This unified solution addresses the fragmented nature of existing tools and promotes sustainable farming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by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maximizing yi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imizing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ourc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ast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ag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an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ving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ove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 farm profitability.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3683459" y="9258300"/>
            <a:ext cx="2902990" cy="3303545"/>
          </a:xfrm>
          <a:custGeom>
            <a:avLst/>
            <a:gdLst/>
            <a:ahLst/>
            <a:cxnLst/>
            <a:rect r="r" b="b" t="t" l="l"/>
            <a:pathLst>
              <a:path h="3303545" w="2902990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96331" y="8442824"/>
            <a:ext cx="2840504" cy="2623915"/>
          </a:xfrm>
          <a:custGeom>
            <a:avLst/>
            <a:gdLst/>
            <a:ahLst/>
            <a:cxnLst/>
            <a:rect r="r" b="b" t="t" l="l"/>
            <a:pathLst>
              <a:path h="2623915" w="2840504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35098">
            <a:off x="17210081" y="6359246"/>
            <a:ext cx="2136488" cy="1973581"/>
          </a:xfrm>
          <a:custGeom>
            <a:avLst/>
            <a:gdLst/>
            <a:ahLst/>
            <a:cxnLst/>
            <a:rect r="r" b="b" t="t" l="l"/>
            <a:pathLst>
              <a:path h="1973581" w="2136488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880940">
            <a:off x="-1435362" y="779145"/>
            <a:ext cx="2769800" cy="4228703"/>
          </a:xfrm>
          <a:custGeom>
            <a:avLst/>
            <a:gdLst/>
            <a:ahLst/>
            <a:cxnLst/>
            <a:rect r="r" b="b" t="t" l="l"/>
            <a:pathLst>
              <a:path h="4228703" w="2769800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700000">
            <a:off x="-1012971" y="-1794883"/>
            <a:ext cx="1568017" cy="3957141"/>
          </a:xfrm>
          <a:custGeom>
            <a:avLst/>
            <a:gdLst/>
            <a:ahLst/>
            <a:cxnLst/>
            <a:rect r="r" b="b" t="t" l="l"/>
            <a:pathLst>
              <a:path h="3957141" w="1568017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862344">
            <a:off x="1055251" y="-2980210"/>
            <a:ext cx="4757812" cy="4634023"/>
          </a:xfrm>
          <a:custGeom>
            <a:avLst/>
            <a:gdLst/>
            <a:ahLst/>
            <a:cxnLst/>
            <a:rect r="r" b="b" t="t" l="l"/>
            <a:pathLst>
              <a:path h="4634023" w="4757812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97254" y="-4151298"/>
            <a:ext cx="7220316" cy="6949554"/>
          </a:xfrm>
          <a:custGeom>
            <a:avLst/>
            <a:gdLst/>
            <a:ahLst/>
            <a:cxnLst/>
            <a:rect r="r" b="b" t="t" l="l"/>
            <a:pathLst>
              <a:path h="6949554" w="7220316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956983" y="7717344"/>
            <a:ext cx="7467517" cy="7187485"/>
          </a:xfrm>
          <a:custGeom>
            <a:avLst/>
            <a:gdLst/>
            <a:ahLst/>
            <a:cxnLst/>
            <a:rect r="r" b="b" t="t" l="l"/>
            <a:pathLst>
              <a:path h="7187485" w="7467517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13330" y="7997490"/>
            <a:ext cx="3189446" cy="7187485"/>
          </a:xfrm>
          <a:custGeom>
            <a:avLst/>
            <a:gdLst/>
            <a:ahLst/>
            <a:cxnLst/>
            <a:rect r="r" b="b" t="t" l="l"/>
            <a:pathLst>
              <a:path h="7187485" w="3189446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15487811" y="-4650415"/>
            <a:ext cx="3083865" cy="6949554"/>
          </a:xfrm>
          <a:custGeom>
            <a:avLst/>
            <a:gdLst/>
            <a:ahLst/>
            <a:cxnLst/>
            <a:rect r="r" b="b" t="t" l="l"/>
            <a:pathLst>
              <a:path h="6949554" w="3083865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248282" y="807600"/>
            <a:ext cx="9791436" cy="149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7"/>
              </a:lnSpc>
            </a:pPr>
            <a:r>
              <a:rPr lang="en-US" sz="8698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INTRODUCTION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51200" y="2379923"/>
            <a:ext cx="14635526" cy="687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6"/>
              </a:lnSpc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Modern ag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ric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ul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ure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faces numer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ous challe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nges—from unpredict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ab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weather a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nd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pest outbre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ak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to inefficient resource usage and lack of expert guidance. Traditional farming methods often rely on manual decision-making, which can lead to reduced yields and increased losses.</a:t>
            </a:r>
          </a:p>
          <a:p>
            <a:pPr algn="just">
              <a:lnSpc>
                <a:spcPts val="4546"/>
              </a:lnSpc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FarmSmart is an </a:t>
            </a:r>
            <a:r>
              <a:rPr lang="en-US" sz="3247" b="true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AI-powered platform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designed to transform farming by offering intelligent, real-time assistance. It helps farmers with:</a:t>
            </a:r>
          </a:p>
          <a:p>
            <a:pPr algn="just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Crop selection based on season, soil, and location</a:t>
            </a:r>
          </a:p>
          <a:p>
            <a:pPr algn="just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Fertilizer recommendations for optimal growth</a:t>
            </a:r>
          </a:p>
          <a:p>
            <a:pPr algn="just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Plant disease detection using AI analysis</a:t>
            </a:r>
          </a:p>
          <a:p>
            <a:pPr algn="just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Seed purchasing through an integrated marketplace</a:t>
            </a:r>
          </a:p>
          <a:p>
            <a:pPr algn="just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 chatbot support for on-demand expert advice</a:t>
            </a:r>
          </a:p>
          <a:p>
            <a:pPr algn="just">
              <a:lnSpc>
                <a:spcPts val="45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3683459" y="9258300"/>
            <a:ext cx="2902990" cy="3303545"/>
          </a:xfrm>
          <a:custGeom>
            <a:avLst/>
            <a:gdLst/>
            <a:ahLst/>
            <a:cxnLst/>
            <a:rect r="r" b="b" t="t" l="l"/>
            <a:pathLst>
              <a:path h="3303545" w="2902990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96331" y="8442824"/>
            <a:ext cx="2840504" cy="2623915"/>
          </a:xfrm>
          <a:custGeom>
            <a:avLst/>
            <a:gdLst/>
            <a:ahLst/>
            <a:cxnLst/>
            <a:rect r="r" b="b" t="t" l="l"/>
            <a:pathLst>
              <a:path h="2623915" w="2840504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35098">
            <a:off x="17210081" y="6359246"/>
            <a:ext cx="2136488" cy="1973581"/>
          </a:xfrm>
          <a:custGeom>
            <a:avLst/>
            <a:gdLst/>
            <a:ahLst/>
            <a:cxnLst/>
            <a:rect r="r" b="b" t="t" l="l"/>
            <a:pathLst>
              <a:path h="1973581" w="2136488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880940">
            <a:off x="-1435362" y="779145"/>
            <a:ext cx="2769800" cy="4228703"/>
          </a:xfrm>
          <a:custGeom>
            <a:avLst/>
            <a:gdLst/>
            <a:ahLst/>
            <a:cxnLst/>
            <a:rect r="r" b="b" t="t" l="l"/>
            <a:pathLst>
              <a:path h="4228703" w="2769800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700000">
            <a:off x="-1012971" y="-1794883"/>
            <a:ext cx="1568017" cy="3957141"/>
          </a:xfrm>
          <a:custGeom>
            <a:avLst/>
            <a:gdLst/>
            <a:ahLst/>
            <a:cxnLst/>
            <a:rect r="r" b="b" t="t" l="l"/>
            <a:pathLst>
              <a:path h="3957141" w="1568017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862344">
            <a:off x="1055251" y="-2980210"/>
            <a:ext cx="4757812" cy="4634023"/>
          </a:xfrm>
          <a:custGeom>
            <a:avLst/>
            <a:gdLst/>
            <a:ahLst/>
            <a:cxnLst/>
            <a:rect r="r" b="b" t="t" l="l"/>
            <a:pathLst>
              <a:path h="4634023" w="4757812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97254" y="-4151298"/>
            <a:ext cx="7220316" cy="6949554"/>
          </a:xfrm>
          <a:custGeom>
            <a:avLst/>
            <a:gdLst/>
            <a:ahLst/>
            <a:cxnLst/>
            <a:rect r="r" b="b" t="t" l="l"/>
            <a:pathLst>
              <a:path h="6949554" w="7220316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956983" y="7717344"/>
            <a:ext cx="7467517" cy="7187485"/>
          </a:xfrm>
          <a:custGeom>
            <a:avLst/>
            <a:gdLst/>
            <a:ahLst/>
            <a:cxnLst/>
            <a:rect r="r" b="b" t="t" l="l"/>
            <a:pathLst>
              <a:path h="7187485" w="7467517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13330" y="7997490"/>
            <a:ext cx="3189446" cy="7187485"/>
          </a:xfrm>
          <a:custGeom>
            <a:avLst/>
            <a:gdLst/>
            <a:ahLst/>
            <a:cxnLst/>
            <a:rect r="r" b="b" t="t" l="l"/>
            <a:pathLst>
              <a:path h="7187485" w="3189446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15487811" y="-4650415"/>
            <a:ext cx="3083865" cy="6949554"/>
          </a:xfrm>
          <a:custGeom>
            <a:avLst/>
            <a:gdLst/>
            <a:ahLst/>
            <a:cxnLst/>
            <a:rect r="r" b="b" t="t" l="l"/>
            <a:pathLst>
              <a:path h="6949554" w="3083865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417495" y="1280468"/>
            <a:ext cx="11453010" cy="128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7"/>
              </a:lnSpc>
            </a:pPr>
            <a:r>
              <a:rPr lang="en-US" sz="7498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LITERATURE SURVEY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36403" y="3249161"/>
            <a:ext cx="11434101" cy="2397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More than </a:t>
            </a:r>
            <a:r>
              <a:rPr lang="en-US" b="true" sz="3247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50 per cent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of marginal farmers reported losing at least half of their standing crops due to extreme weather conditions, according to a recent survey published in </a:t>
            </a:r>
            <a:r>
              <a:rPr lang="en-US" b="true" sz="3247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BUSINESS STANDARD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47996" y="6204110"/>
            <a:ext cx="11786958" cy="296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study published in </a:t>
            </a:r>
            <a:r>
              <a:rPr lang="en-US" b="true" sz="3247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ECONOMIC TIMES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says that major causes of crop damage were drought (41%), irregular rainfall (32%), and monsoon delays (24%), with </a:t>
            </a:r>
            <a:r>
              <a:rPr lang="en-US" b="true" sz="3247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43% of farmers losing over half of their standing crops.</a:t>
            </a:r>
          </a:p>
          <a:p>
            <a:pPr algn="just">
              <a:lnSpc>
                <a:spcPts val="454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3683459" y="9258300"/>
            <a:ext cx="2902990" cy="3303545"/>
          </a:xfrm>
          <a:custGeom>
            <a:avLst/>
            <a:gdLst/>
            <a:ahLst/>
            <a:cxnLst/>
            <a:rect r="r" b="b" t="t" l="l"/>
            <a:pathLst>
              <a:path h="3303545" w="2902990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96331" y="8442824"/>
            <a:ext cx="2840504" cy="2623915"/>
          </a:xfrm>
          <a:custGeom>
            <a:avLst/>
            <a:gdLst/>
            <a:ahLst/>
            <a:cxnLst/>
            <a:rect r="r" b="b" t="t" l="l"/>
            <a:pathLst>
              <a:path h="2623915" w="2840504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35098">
            <a:off x="17210081" y="6359246"/>
            <a:ext cx="2136488" cy="1973581"/>
          </a:xfrm>
          <a:custGeom>
            <a:avLst/>
            <a:gdLst/>
            <a:ahLst/>
            <a:cxnLst/>
            <a:rect r="r" b="b" t="t" l="l"/>
            <a:pathLst>
              <a:path h="1973581" w="2136488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880940">
            <a:off x="-1435362" y="779145"/>
            <a:ext cx="2769800" cy="4228703"/>
          </a:xfrm>
          <a:custGeom>
            <a:avLst/>
            <a:gdLst/>
            <a:ahLst/>
            <a:cxnLst/>
            <a:rect r="r" b="b" t="t" l="l"/>
            <a:pathLst>
              <a:path h="4228703" w="2769800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700000">
            <a:off x="-1012971" y="-1794883"/>
            <a:ext cx="1568017" cy="3957141"/>
          </a:xfrm>
          <a:custGeom>
            <a:avLst/>
            <a:gdLst/>
            <a:ahLst/>
            <a:cxnLst/>
            <a:rect r="r" b="b" t="t" l="l"/>
            <a:pathLst>
              <a:path h="3957141" w="1568017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862344">
            <a:off x="1055251" y="-2980210"/>
            <a:ext cx="4757812" cy="4634023"/>
          </a:xfrm>
          <a:custGeom>
            <a:avLst/>
            <a:gdLst/>
            <a:ahLst/>
            <a:cxnLst/>
            <a:rect r="r" b="b" t="t" l="l"/>
            <a:pathLst>
              <a:path h="4634023" w="4757812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97254" y="-4151298"/>
            <a:ext cx="7220316" cy="6949554"/>
          </a:xfrm>
          <a:custGeom>
            <a:avLst/>
            <a:gdLst/>
            <a:ahLst/>
            <a:cxnLst/>
            <a:rect r="r" b="b" t="t" l="l"/>
            <a:pathLst>
              <a:path h="6949554" w="7220316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956983" y="7717344"/>
            <a:ext cx="7467517" cy="7187485"/>
          </a:xfrm>
          <a:custGeom>
            <a:avLst/>
            <a:gdLst/>
            <a:ahLst/>
            <a:cxnLst/>
            <a:rect r="r" b="b" t="t" l="l"/>
            <a:pathLst>
              <a:path h="7187485" w="7467517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13330" y="7997490"/>
            <a:ext cx="3189446" cy="7187485"/>
          </a:xfrm>
          <a:custGeom>
            <a:avLst/>
            <a:gdLst/>
            <a:ahLst/>
            <a:cxnLst/>
            <a:rect r="r" b="b" t="t" l="l"/>
            <a:pathLst>
              <a:path h="7187485" w="3189446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15487811" y="-4650415"/>
            <a:ext cx="3083865" cy="6949554"/>
          </a:xfrm>
          <a:custGeom>
            <a:avLst/>
            <a:gdLst/>
            <a:ahLst/>
            <a:cxnLst/>
            <a:rect r="r" b="b" t="t" l="l"/>
            <a:pathLst>
              <a:path h="6949554" w="3083865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710425" y="2069898"/>
            <a:ext cx="10638126" cy="7188402"/>
          </a:xfrm>
          <a:custGeom>
            <a:avLst/>
            <a:gdLst/>
            <a:ahLst/>
            <a:cxnLst/>
            <a:rect r="r" b="b" t="t" l="l"/>
            <a:pathLst>
              <a:path h="7188402" w="10638126">
                <a:moveTo>
                  <a:pt x="0" y="0"/>
                </a:moveTo>
                <a:lnTo>
                  <a:pt x="10638126" y="0"/>
                </a:lnTo>
                <a:lnTo>
                  <a:pt x="10638126" y="7188402"/>
                </a:lnTo>
                <a:lnTo>
                  <a:pt x="0" y="71884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256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710425" y="645586"/>
            <a:ext cx="9791436" cy="149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7"/>
              </a:lnSpc>
            </a:pPr>
            <a:r>
              <a:rPr lang="en-US" sz="8698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PIE CHART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00853" y="4508420"/>
            <a:ext cx="10886294" cy="54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6"/>
              </a:lnSpc>
              <a:spcBef>
                <a:spcPct val="0"/>
              </a:spcBef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3683459" y="9258300"/>
            <a:ext cx="2902990" cy="3303545"/>
          </a:xfrm>
          <a:custGeom>
            <a:avLst/>
            <a:gdLst/>
            <a:ahLst/>
            <a:cxnLst/>
            <a:rect r="r" b="b" t="t" l="l"/>
            <a:pathLst>
              <a:path h="3303545" w="2902990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96331" y="8442824"/>
            <a:ext cx="2840504" cy="2623915"/>
          </a:xfrm>
          <a:custGeom>
            <a:avLst/>
            <a:gdLst/>
            <a:ahLst/>
            <a:cxnLst/>
            <a:rect r="r" b="b" t="t" l="l"/>
            <a:pathLst>
              <a:path h="2623915" w="2840504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35098">
            <a:off x="17210081" y="6359246"/>
            <a:ext cx="2136488" cy="1973581"/>
          </a:xfrm>
          <a:custGeom>
            <a:avLst/>
            <a:gdLst/>
            <a:ahLst/>
            <a:cxnLst/>
            <a:rect r="r" b="b" t="t" l="l"/>
            <a:pathLst>
              <a:path h="1973581" w="2136488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880940">
            <a:off x="-1435362" y="779145"/>
            <a:ext cx="2769800" cy="4228703"/>
          </a:xfrm>
          <a:custGeom>
            <a:avLst/>
            <a:gdLst/>
            <a:ahLst/>
            <a:cxnLst/>
            <a:rect r="r" b="b" t="t" l="l"/>
            <a:pathLst>
              <a:path h="4228703" w="2769800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700000">
            <a:off x="-1012971" y="-1794883"/>
            <a:ext cx="1568017" cy="3957141"/>
          </a:xfrm>
          <a:custGeom>
            <a:avLst/>
            <a:gdLst/>
            <a:ahLst/>
            <a:cxnLst/>
            <a:rect r="r" b="b" t="t" l="l"/>
            <a:pathLst>
              <a:path h="3957141" w="1568017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862344">
            <a:off x="1055251" y="-2980210"/>
            <a:ext cx="4757812" cy="4634023"/>
          </a:xfrm>
          <a:custGeom>
            <a:avLst/>
            <a:gdLst/>
            <a:ahLst/>
            <a:cxnLst/>
            <a:rect r="r" b="b" t="t" l="l"/>
            <a:pathLst>
              <a:path h="4634023" w="4757812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97254" y="-4151298"/>
            <a:ext cx="7220316" cy="6949554"/>
          </a:xfrm>
          <a:custGeom>
            <a:avLst/>
            <a:gdLst/>
            <a:ahLst/>
            <a:cxnLst/>
            <a:rect r="r" b="b" t="t" l="l"/>
            <a:pathLst>
              <a:path h="6949554" w="7220316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956983" y="7717344"/>
            <a:ext cx="7467517" cy="7187485"/>
          </a:xfrm>
          <a:custGeom>
            <a:avLst/>
            <a:gdLst/>
            <a:ahLst/>
            <a:cxnLst/>
            <a:rect r="r" b="b" t="t" l="l"/>
            <a:pathLst>
              <a:path h="7187485" w="7467517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13330" y="7997490"/>
            <a:ext cx="3189446" cy="7187485"/>
          </a:xfrm>
          <a:custGeom>
            <a:avLst/>
            <a:gdLst/>
            <a:ahLst/>
            <a:cxnLst/>
            <a:rect r="r" b="b" t="t" l="l"/>
            <a:pathLst>
              <a:path h="7187485" w="3189446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15487811" y="-4650415"/>
            <a:ext cx="3083865" cy="6949554"/>
          </a:xfrm>
          <a:custGeom>
            <a:avLst/>
            <a:gdLst/>
            <a:ahLst/>
            <a:cxnLst/>
            <a:rect r="r" b="b" t="t" l="l"/>
            <a:pathLst>
              <a:path h="6949554" w="3083865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24475" y="2025894"/>
            <a:ext cx="13326267" cy="8884178"/>
          </a:xfrm>
          <a:custGeom>
            <a:avLst/>
            <a:gdLst/>
            <a:ahLst/>
            <a:cxnLst/>
            <a:rect r="r" b="b" t="t" l="l"/>
            <a:pathLst>
              <a:path h="8884178" w="13326267">
                <a:moveTo>
                  <a:pt x="0" y="0"/>
                </a:moveTo>
                <a:lnTo>
                  <a:pt x="13326267" y="0"/>
                </a:lnTo>
                <a:lnTo>
                  <a:pt x="13326267" y="8884178"/>
                </a:lnTo>
                <a:lnTo>
                  <a:pt x="0" y="88841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525827" y="964174"/>
            <a:ext cx="12889198" cy="10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ARCHITECTURAL DIAGRAM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00853" y="4508420"/>
            <a:ext cx="10886294" cy="54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6"/>
              </a:lnSpc>
              <a:spcBef>
                <a:spcPct val="0"/>
              </a:spcBef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3683459" y="9258300"/>
            <a:ext cx="2902990" cy="3303545"/>
          </a:xfrm>
          <a:custGeom>
            <a:avLst/>
            <a:gdLst/>
            <a:ahLst/>
            <a:cxnLst/>
            <a:rect r="r" b="b" t="t" l="l"/>
            <a:pathLst>
              <a:path h="3303545" w="2902990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96331" y="8442824"/>
            <a:ext cx="2840504" cy="2623915"/>
          </a:xfrm>
          <a:custGeom>
            <a:avLst/>
            <a:gdLst/>
            <a:ahLst/>
            <a:cxnLst/>
            <a:rect r="r" b="b" t="t" l="l"/>
            <a:pathLst>
              <a:path h="2623915" w="2840504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35098">
            <a:off x="17210081" y="6359246"/>
            <a:ext cx="2136488" cy="1973581"/>
          </a:xfrm>
          <a:custGeom>
            <a:avLst/>
            <a:gdLst/>
            <a:ahLst/>
            <a:cxnLst/>
            <a:rect r="r" b="b" t="t" l="l"/>
            <a:pathLst>
              <a:path h="1973581" w="2136488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880940">
            <a:off x="-1435362" y="779145"/>
            <a:ext cx="2769800" cy="4228703"/>
          </a:xfrm>
          <a:custGeom>
            <a:avLst/>
            <a:gdLst/>
            <a:ahLst/>
            <a:cxnLst/>
            <a:rect r="r" b="b" t="t" l="l"/>
            <a:pathLst>
              <a:path h="4228703" w="2769800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700000">
            <a:off x="-1012971" y="-1794883"/>
            <a:ext cx="1568017" cy="3957141"/>
          </a:xfrm>
          <a:custGeom>
            <a:avLst/>
            <a:gdLst/>
            <a:ahLst/>
            <a:cxnLst/>
            <a:rect r="r" b="b" t="t" l="l"/>
            <a:pathLst>
              <a:path h="3957141" w="1568017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862344">
            <a:off x="1055251" y="-2980210"/>
            <a:ext cx="4757812" cy="4634023"/>
          </a:xfrm>
          <a:custGeom>
            <a:avLst/>
            <a:gdLst/>
            <a:ahLst/>
            <a:cxnLst/>
            <a:rect r="r" b="b" t="t" l="l"/>
            <a:pathLst>
              <a:path h="4634023" w="4757812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97254" y="-4151298"/>
            <a:ext cx="7220316" cy="6949554"/>
          </a:xfrm>
          <a:custGeom>
            <a:avLst/>
            <a:gdLst/>
            <a:ahLst/>
            <a:cxnLst/>
            <a:rect r="r" b="b" t="t" l="l"/>
            <a:pathLst>
              <a:path h="6949554" w="7220316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956983" y="7717344"/>
            <a:ext cx="7467517" cy="7187485"/>
          </a:xfrm>
          <a:custGeom>
            <a:avLst/>
            <a:gdLst/>
            <a:ahLst/>
            <a:cxnLst/>
            <a:rect r="r" b="b" t="t" l="l"/>
            <a:pathLst>
              <a:path h="7187485" w="7467517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13330" y="7997490"/>
            <a:ext cx="3189446" cy="7187485"/>
          </a:xfrm>
          <a:custGeom>
            <a:avLst/>
            <a:gdLst/>
            <a:ahLst/>
            <a:cxnLst/>
            <a:rect r="r" b="b" t="t" l="l"/>
            <a:pathLst>
              <a:path h="7187485" w="3189446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15487811" y="-4650415"/>
            <a:ext cx="3083865" cy="6949554"/>
          </a:xfrm>
          <a:custGeom>
            <a:avLst/>
            <a:gdLst/>
            <a:ahLst/>
            <a:cxnLst/>
            <a:rect r="r" b="b" t="t" l="l"/>
            <a:pathLst>
              <a:path h="6949554" w="3083865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85313" y="1306717"/>
            <a:ext cx="13011018" cy="149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7"/>
              </a:lnSpc>
            </a:pPr>
            <a:r>
              <a:rPr lang="en-US" sz="8698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MODULE DESCRIPTION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21434" y="2968820"/>
            <a:ext cx="13845131" cy="648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1187" indent="-350594" lvl="1">
              <a:lnSpc>
                <a:spcPts val="4546"/>
              </a:lnSpc>
              <a:buAutoNum type="arabicPeriod" startAt="1"/>
            </a:pPr>
            <a:r>
              <a:rPr lang="en-US" b="true" sz="3247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Crop Recommendation Module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Uses so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 da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ta, c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limate, and seas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to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sug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gest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op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imal c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rops.</a:t>
            </a:r>
          </a:p>
          <a:p>
            <a:pPr algn="just" marL="701187" indent="-350594" lvl="1">
              <a:lnSpc>
                <a:spcPts val="4546"/>
              </a:lnSpc>
              <a:buAutoNum type="arabicPeriod" startAt="1"/>
            </a:pPr>
            <a:r>
              <a:rPr lang="en-US" b="true" sz="3247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Fertilizer Advisory Module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Recommends fertilizer type and quantity based on crop and soil.</a:t>
            </a:r>
          </a:p>
          <a:p>
            <a:pPr algn="just" marL="701187" indent="-350594" lvl="1">
              <a:lnSpc>
                <a:spcPts val="4546"/>
              </a:lnSpc>
              <a:buAutoNum type="arabicPeriod" startAt="1"/>
            </a:pPr>
            <a:r>
              <a:rPr lang="en-US" b="true" sz="3247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Disease Detection Module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Uses image analysis to detect plant diseases and suggest treatments.</a:t>
            </a:r>
          </a:p>
          <a:p>
            <a:pPr algn="just" marL="701187" indent="-350594" lvl="1">
              <a:lnSpc>
                <a:spcPts val="4546"/>
              </a:lnSpc>
              <a:buAutoNum type="arabicPeriod" startAt="1"/>
            </a:pPr>
            <a:r>
              <a:rPr lang="en-US" b="true" sz="3247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Seed Marketplace Module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Enables seed browsing and purchasing within the app.</a:t>
            </a:r>
          </a:p>
          <a:p>
            <a:pPr algn="just" marL="701187" indent="-350594" lvl="1">
              <a:lnSpc>
                <a:spcPts val="4546"/>
              </a:lnSpc>
              <a:buAutoNum type="arabicPeriod" startAt="1"/>
            </a:pPr>
            <a:r>
              <a:rPr lang="en-US" b="true" sz="3247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AI Chatbot Module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Provides real-time support and answers to farmer queries.</a:t>
            </a:r>
          </a:p>
          <a:p>
            <a:pPr algn="just">
              <a:lnSpc>
                <a:spcPts val="45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3683459" y="9258300"/>
            <a:ext cx="2902990" cy="3303545"/>
          </a:xfrm>
          <a:custGeom>
            <a:avLst/>
            <a:gdLst/>
            <a:ahLst/>
            <a:cxnLst/>
            <a:rect r="r" b="b" t="t" l="l"/>
            <a:pathLst>
              <a:path h="3303545" w="2902990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96331" y="8442824"/>
            <a:ext cx="2840504" cy="2623915"/>
          </a:xfrm>
          <a:custGeom>
            <a:avLst/>
            <a:gdLst/>
            <a:ahLst/>
            <a:cxnLst/>
            <a:rect r="r" b="b" t="t" l="l"/>
            <a:pathLst>
              <a:path h="2623915" w="2840504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35098">
            <a:off x="17210081" y="6359246"/>
            <a:ext cx="2136488" cy="1973581"/>
          </a:xfrm>
          <a:custGeom>
            <a:avLst/>
            <a:gdLst/>
            <a:ahLst/>
            <a:cxnLst/>
            <a:rect r="r" b="b" t="t" l="l"/>
            <a:pathLst>
              <a:path h="1973581" w="2136488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880940">
            <a:off x="-1435362" y="779145"/>
            <a:ext cx="2769800" cy="4228703"/>
          </a:xfrm>
          <a:custGeom>
            <a:avLst/>
            <a:gdLst/>
            <a:ahLst/>
            <a:cxnLst/>
            <a:rect r="r" b="b" t="t" l="l"/>
            <a:pathLst>
              <a:path h="4228703" w="2769800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700000">
            <a:off x="-1012971" y="-1794883"/>
            <a:ext cx="1568017" cy="3957141"/>
          </a:xfrm>
          <a:custGeom>
            <a:avLst/>
            <a:gdLst/>
            <a:ahLst/>
            <a:cxnLst/>
            <a:rect r="r" b="b" t="t" l="l"/>
            <a:pathLst>
              <a:path h="3957141" w="1568017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862344">
            <a:off x="1055251" y="-2980210"/>
            <a:ext cx="4757812" cy="4634023"/>
          </a:xfrm>
          <a:custGeom>
            <a:avLst/>
            <a:gdLst/>
            <a:ahLst/>
            <a:cxnLst/>
            <a:rect r="r" b="b" t="t" l="l"/>
            <a:pathLst>
              <a:path h="4634023" w="4757812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97254" y="-4151298"/>
            <a:ext cx="7220316" cy="6949554"/>
          </a:xfrm>
          <a:custGeom>
            <a:avLst/>
            <a:gdLst/>
            <a:ahLst/>
            <a:cxnLst/>
            <a:rect r="r" b="b" t="t" l="l"/>
            <a:pathLst>
              <a:path h="6949554" w="7220316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956983" y="7717344"/>
            <a:ext cx="7467517" cy="7187485"/>
          </a:xfrm>
          <a:custGeom>
            <a:avLst/>
            <a:gdLst/>
            <a:ahLst/>
            <a:cxnLst/>
            <a:rect r="r" b="b" t="t" l="l"/>
            <a:pathLst>
              <a:path h="7187485" w="7467517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13330" y="7997490"/>
            <a:ext cx="3189446" cy="7187485"/>
          </a:xfrm>
          <a:custGeom>
            <a:avLst/>
            <a:gdLst/>
            <a:ahLst/>
            <a:cxnLst/>
            <a:rect r="r" b="b" t="t" l="l"/>
            <a:pathLst>
              <a:path h="7187485" w="3189446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15487811" y="-4650415"/>
            <a:ext cx="3083865" cy="6949554"/>
          </a:xfrm>
          <a:custGeom>
            <a:avLst/>
            <a:gdLst/>
            <a:ahLst/>
            <a:cxnLst/>
            <a:rect r="r" b="b" t="t" l="l"/>
            <a:pathLst>
              <a:path h="6949554" w="3083865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30221" y="2798256"/>
            <a:ext cx="8025736" cy="3713225"/>
          </a:xfrm>
          <a:custGeom>
            <a:avLst/>
            <a:gdLst/>
            <a:ahLst/>
            <a:cxnLst/>
            <a:rect r="r" b="b" t="t" l="l"/>
            <a:pathLst>
              <a:path h="3713225" w="8025736">
                <a:moveTo>
                  <a:pt x="0" y="0"/>
                </a:moveTo>
                <a:lnTo>
                  <a:pt x="8025736" y="0"/>
                </a:lnTo>
                <a:lnTo>
                  <a:pt x="8025736" y="3713225"/>
                </a:lnTo>
                <a:lnTo>
                  <a:pt x="0" y="37132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798508" y="3215663"/>
            <a:ext cx="6231235" cy="2878411"/>
          </a:xfrm>
          <a:custGeom>
            <a:avLst/>
            <a:gdLst/>
            <a:ahLst/>
            <a:cxnLst/>
            <a:rect r="r" b="b" t="t" l="l"/>
            <a:pathLst>
              <a:path h="2878411" w="6231235">
                <a:moveTo>
                  <a:pt x="0" y="0"/>
                </a:moveTo>
                <a:lnTo>
                  <a:pt x="6231235" y="0"/>
                </a:lnTo>
                <a:lnTo>
                  <a:pt x="6231235" y="2878411"/>
                </a:lnTo>
                <a:lnTo>
                  <a:pt x="0" y="28784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473104" y="6991029"/>
            <a:ext cx="5983021" cy="2763753"/>
          </a:xfrm>
          <a:custGeom>
            <a:avLst/>
            <a:gdLst/>
            <a:ahLst/>
            <a:cxnLst/>
            <a:rect r="r" b="b" t="t" l="l"/>
            <a:pathLst>
              <a:path h="2763753" w="5983021">
                <a:moveTo>
                  <a:pt x="0" y="0"/>
                </a:moveTo>
                <a:lnTo>
                  <a:pt x="5983021" y="0"/>
                </a:lnTo>
                <a:lnTo>
                  <a:pt x="5983021" y="2763753"/>
                </a:lnTo>
                <a:lnTo>
                  <a:pt x="0" y="27637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30221" y="1136809"/>
            <a:ext cx="15586362" cy="1203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7"/>
              </a:lnSpc>
            </a:pPr>
            <a:r>
              <a:rPr lang="en-US" sz="6998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RESULTS/OUTPUT SCREEN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3683459" y="9258300"/>
            <a:ext cx="2902990" cy="3303545"/>
          </a:xfrm>
          <a:custGeom>
            <a:avLst/>
            <a:gdLst/>
            <a:ahLst/>
            <a:cxnLst/>
            <a:rect r="r" b="b" t="t" l="l"/>
            <a:pathLst>
              <a:path h="3303545" w="2902990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96331" y="8442824"/>
            <a:ext cx="2840504" cy="2623915"/>
          </a:xfrm>
          <a:custGeom>
            <a:avLst/>
            <a:gdLst/>
            <a:ahLst/>
            <a:cxnLst/>
            <a:rect r="r" b="b" t="t" l="l"/>
            <a:pathLst>
              <a:path h="2623915" w="2840504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35098">
            <a:off x="17210081" y="6359246"/>
            <a:ext cx="2136488" cy="1973581"/>
          </a:xfrm>
          <a:custGeom>
            <a:avLst/>
            <a:gdLst/>
            <a:ahLst/>
            <a:cxnLst/>
            <a:rect r="r" b="b" t="t" l="l"/>
            <a:pathLst>
              <a:path h="1973581" w="2136488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880940">
            <a:off x="-1435362" y="779145"/>
            <a:ext cx="2769800" cy="4228703"/>
          </a:xfrm>
          <a:custGeom>
            <a:avLst/>
            <a:gdLst/>
            <a:ahLst/>
            <a:cxnLst/>
            <a:rect r="r" b="b" t="t" l="l"/>
            <a:pathLst>
              <a:path h="4228703" w="2769800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700000">
            <a:off x="-1012971" y="-1794883"/>
            <a:ext cx="1568017" cy="3957141"/>
          </a:xfrm>
          <a:custGeom>
            <a:avLst/>
            <a:gdLst/>
            <a:ahLst/>
            <a:cxnLst/>
            <a:rect r="r" b="b" t="t" l="l"/>
            <a:pathLst>
              <a:path h="3957141" w="1568017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862344">
            <a:off x="1055251" y="-2980210"/>
            <a:ext cx="4757812" cy="4634023"/>
          </a:xfrm>
          <a:custGeom>
            <a:avLst/>
            <a:gdLst/>
            <a:ahLst/>
            <a:cxnLst/>
            <a:rect r="r" b="b" t="t" l="l"/>
            <a:pathLst>
              <a:path h="4634023" w="4757812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97254" y="-4151298"/>
            <a:ext cx="7220316" cy="6949554"/>
          </a:xfrm>
          <a:custGeom>
            <a:avLst/>
            <a:gdLst/>
            <a:ahLst/>
            <a:cxnLst/>
            <a:rect r="r" b="b" t="t" l="l"/>
            <a:pathLst>
              <a:path h="6949554" w="7220316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956983" y="7717344"/>
            <a:ext cx="7467517" cy="7187485"/>
          </a:xfrm>
          <a:custGeom>
            <a:avLst/>
            <a:gdLst/>
            <a:ahLst/>
            <a:cxnLst/>
            <a:rect r="r" b="b" t="t" l="l"/>
            <a:pathLst>
              <a:path h="7187485" w="7467517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13330" y="7997490"/>
            <a:ext cx="3189446" cy="7187485"/>
          </a:xfrm>
          <a:custGeom>
            <a:avLst/>
            <a:gdLst/>
            <a:ahLst/>
            <a:cxnLst/>
            <a:rect r="r" b="b" t="t" l="l"/>
            <a:pathLst>
              <a:path h="7187485" w="3189446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15487811" y="-4650415"/>
            <a:ext cx="3083865" cy="6949554"/>
          </a:xfrm>
          <a:custGeom>
            <a:avLst/>
            <a:gdLst/>
            <a:ahLst/>
            <a:cxnLst/>
            <a:rect r="r" b="b" t="t" l="l"/>
            <a:pathLst>
              <a:path h="6949554" w="3083865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305244" y="434936"/>
            <a:ext cx="10601797" cy="259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7"/>
              </a:lnSpc>
            </a:pPr>
            <a:r>
              <a:rPr lang="en-US" sz="7398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CONCLUSION &amp; FUTURE SCOPE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51200" y="3402184"/>
            <a:ext cx="14635526" cy="6352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6"/>
              </a:lnSpc>
            </a:pPr>
            <a:r>
              <a:rPr lang="en-US" sz="3247" b="true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Conclusion:</a:t>
            </a:r>
          </a:p>
          <a:p>
            <a:pPr algn="just">
              <a:lnSpc>
                <a:spcPts val="4546"/>
              </a:lnSpc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Fa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rmSmart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leverages AI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to simplify farming by offering smart crop planning, fertilizer guidance, disease detection, and seed purchasing—all in 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platform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It enhances productivity, supports sustainable practices, and empowers farmers with real-time, expert assistance.</a:t>
            </a:r>
          </a:p>
          <a:p>
            <a:pPr algn="just">
              <a:lnSpc>
                <a:spcPts val="4546"/>
              </a:lnSpc>
            </a:pPr>
            <a:r>
              <a:rPr lang="en-US" sz="3247" b="true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Future Scope:</a:t>
            </a:r>
          </a:p>
          <a:p>
            <a:pPr algn="just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Add voice and regional language support</a:t>
            </a:r>
          </a:p>
          <a:p>
            <a:pPr algn="just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ntegrate satellite and IoT data</a:t>
            </a:r>
          </a:p>
          <a:p>
            <a:pPr algn="just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Enable blockchain for supply chain transparency</a:t>
            </a:r>
          </a:p>
          <a:p>
            <a:pPr algn="just" marL="701187" indent="-350594" lvl="1">
              <a:lnSpc>
                <a:spcPts val="4546"/>
              </a:lnSpc>
              <a:buFont typeface="Arial"/>
              <a:buChar char="•"/>
            </a:pP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</a:t>
            </a:r>
            <a:r>
              <a:rPr lang="en-US" sz="3247">
                <a:solidFill>
                  <a:srgbClr val="A4835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and to weather prediction and livestock modules</a:t>
            </a:r>
          </a:p>
          <a:p>
            <a:pPr algn="just">
              <a:lnSpc>
                <a:spcPts val="45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3683459" y="9258300"/>
            <a:ext cx="2902990" cy="3303545"/>
          </a:xfrm>
          <a:custGeom>
            <a:avLst/>
            <a:gdLst/>
            <a:ahLst/>
            <a:cxnLst/>
            <a:rect r="r" b="b" t="t" l="l"/>
            <a:pathLst>
              <a:path h="3303545" w="2902990">
                <a:moveTo>
                  <a:pt x="0" y="0"/>
                </a:moveTo>
                <a:lnTo>
                  <a:pt x="2902990" y="0"/>
                </a:lnTo>
                <a:lnTo>
                  <a:pt x="2902990" y="3303545"/>
                </a:lnTo>
                <a:lnTo>
                  <a:pt x="0" y="3303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96331" y="8442824"/>
            <a:ext cx="2840504" cy="2623915"/>
          </a:xfrm>
          <a:custGeom>
            <a:avLst/>
            <a:gdLst/>
            <a:ahLst/>
            <a:cxnLst/>
            <a:rect r="r" b="b" t="t" l="l"/>
            <a:pathLst>
              <a:path h="2623915" w="2840504">
                <a:moveTo>
                  <a:pt x="0" y="0"/>
                </a:moveTo>
                <a:lnTo>
                  <a:pt x="2840504" y="0"/>
                </a:lnTo>
                <a:lnTo>
                  <a:pt x="2840504" y="2623916"/>
                </a:lnTo>
                <a:lnTo>
                  <a:pt x="0" y="2623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35098">
            <a:off x="17210081" y="6359246"/>
            <a:ext cx="2136488" cy="1973581"/>
          </a:xfrm>
          <a:custGeom>
            <a:avLst/>
            <a:gdLst/>
            <a:ahLst/>
            <a:cxnLst/>
            <a:rect r="r" b="b" t="t" l="l"/>
            <a:pathLst>
              <a:path h="1973581" w="2136488">
                <a:moveTo>
                  <a:pt x="0" y="0"/>
                </a:moveTo>
                <a:lnTo>
                  <a:pt x="2136488" y="0"/>
                </a:lnTo>
                <a:lnTo>
                  <a:pt x="2136488" y="1973581"/>
                </a:lnTo>
                <a:lnTo>
                  <a:pt x="0" y="1973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880940">
            <a:off x="-1435362" y="779145"/>
            <a:ext cx="2769800" cy="4228703"/>
          </a:xfrm>
          <a:custGeom>
            <a:avLst/>
            <a:gdLst/>
            <a:ahLst/>
            <a:cxnLst/>
            <a:rect r="r" b="b" t="t" l="l"/>
            <a:pathLst>
              <a:path h="4228703" w="2769800">
                <a:moveTo>
                  <a:pt x="2769800" y="0"/>
                </a:moveTo>
                <a:lnTo>
                  <a:pt x="0" y="0"/>
                </a:lnTo>
                <a:lnTo>
                  <a:pt x="0" y="4228703"/>
                </a:lnTo>
                <a:lnTo>
                  <a:pt x="2769800" y="4228703"/>
                </a:lnTo>
                <a:lnTo>
                  <a:pt x="276980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700000">
            <a:off x="-1012971" y="-1794883"/>
            <a:ext cx="1568017" cy="3957141"/>
          </a:xfrm>
          <a:custGeom>
            <a:avLst/>
            <a:gdLst/>
            <a:ahLst/>
            <a:cxnLst/>
            <a:rect r="r" b="b" t="t" l="l"/>
            <a:pathLst>
              <a:path h="3957141" w="1568017">
                <a:moveTo>
                  <a:pt x="1568017" y="0"/>
                </a:moveTo>
                <a:lnTo>
                  <a:pt x="0" y="0"/>
                </a:lnTo>
                <a:lnTo>
                  <a:pt x="0" y="3957140"/>
                </a:lnTo>
                <a:lnTo>
                  <a:pt x="1568017" y="3957140"/>
                </a:lnTo>
                <a:lnTo>
                  <a:pt x="1568017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862344">
            <a:off x="1055251" y="-2980210"/>
            <a:ext cx="4757812" cy="4634023"/>
          </a:xfrm>
          <a:custGeom>
            <a:avLst/>
            <a:gdLst/>
            <a:ahLst/>
            <a:cxnLst/>
            <a:rect r="r" b="b" t="t" l="l"/>
            <a:pathLst>
              <a:path h="4634023" w="4757812">
                <a:moveTo>
                  <a:pt x="0" y="0"/>
                </a:moveTo>
                <a:lnTo>
                  <a:pt x="4757812" y="0"/>
                </a:lnTo>
                <a:lnTo>
                  <a:pt x="4757812" y="4634023"/>
                </a:lnTo>
                <a:lnTo>
                  <a:pt x="0" y="4634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97254" y="-4151298"/>
            <a:ext cx="7220316" cy="6949554"/>
          </a:xfrm>
          <a:custGeom>
            <a:avLst/>
            <a:gdLst/>
            <a:ahLst/>
            <a:cxnLst/>
            <a:rect r="r" b="b" t="t" l="l"/>
            <a:pathLst>
              <a:path h="6949554" w="7220316">
                <a:moveTo>
                  <a:pt x="0" y="0"/>
                </a:moveTo>
                <a:lnTo>
                  <a:pt x="7220316" y="0"/>
                </a:lnTo>
                <a:lnTo>
                  <a:pt x="7220316" y="6949554"/>
                </a:lnTo>
                <a:lnTo>
                  <a:pt x="0" y="69495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956983" y="7717344"/>
            <a:ext cx="7467517" cy="7187485"/>
          </a:xfrm>
          <a:custGeom>
            <a:avLst/>
            <a:gdLst/>
            <a:ahLst/>
            <a:cxnLst/>
            <a:rect r="r" b="b" t="t" l="l"/>
            <a:pathLst>
              <a:path h="7187485" w="7467517">
                <a:moveTo>
                  <a:pt x="0" y="0"/>
                </a:moveTo>
                <a:lnTo>
                  <a:pt x="7467516" y="0"/>
                </a:lnTo>
                <a:lnTo>
                  <a:pt x="7467516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13330" y="7997490"/>
            <a:ext cx="3189446" cy="7187485"/>
          </a:xfrm>
          <a:custGeom>
            <a:avLst/>
            <a:gdLst/>
            <a:ahLst/>
            <a:cxnLst/>
            <a:rect r="r" b="b" t="t" l="l"/>
            <a:pathLst>
              <a:path h="7187485" w="3189446">
                <a:moveTo>
                  <a:pt x="0" y="0"/>
                </a:moveTo>
                <a:lnTo>
                  <a:pt x="3189447" y="0"/>
                </a:lnTo>
                <a:lnTo>
                  <a:pt x="3189447" y="7187484"/>
                </a:lnTo>
                <a:lnTo>
                  <a:pt x="0" y="71874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15487811" y="-4650415"/>
            <a:ext cx="3083865" cy="6949554"/>
          </a:xfrm>
          <a:custGeom>
            <a:avLst/>
            <a:gdLst/>
            <a:ahLst/>
            <a:cxnLst/>
            <a:rect r="r" b="b" t="t" l="l"/>
            <a:pathLst>
              <a:path h="6949554" w="3083865">
                <a:moveTo>
                  <a:pt x="0" y="6949554"/>
                </a:moveTo>
                <a:lnTo>
                  <a:pt x="3083865" y="6949554"/>
                </a:lnTo>
                <a:lnTo>
                  <a:pt x="3083865" y="0"/>
                </a:lnTo>
                <a:lnTo>
                  <a:pt x="0" y="0"/>
                </a:lnTo>
                <a:lnTo>
                  <a:pt x="0" y="6949554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638491" y="565991"/>
            <a:ext cx="13011018" cy="149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77"/>
              </a:lnSpc>
            </a:pPr>
            <a:r>
              <a:rPr lang="en-US" sz="8698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REFERENCES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2874" y="2241989"/>
            <a:ext cx="15062251" cy="843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0592" indent="-290296" lvl="1">
              <a:lnSpc>
                <a:spcPts val="3764"/>
              </a:lnSpc>
              <a:buAutoNum type="arabicPeriod" startAt="1"/>
            </a:pPr>
            <a:r>
              <a:rPr lang="en-US" b="true" sz="2689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·Banerjee, S., &amp; Mondal, A. C. (2020). "A region-wise weather data-based crop recommendation system using different machine learning algorithms." International Journal of Intelligent Systems and Applications in Engineering.</a:t>
            </a:r>
          </a:p>
          <a:p>
            <a:pPr algn="just" marL="580592" indent="-290296" lvl="1">
              <a:lnSpc>
                <a:spcPts val="3764"/>
              </a:lnSpc>
              <a:buAutoNum type="arabicPeriod" startAt="1"/>
            </a:pPr>
            <a:r>
              <a:rPr lang="en-US" b="true" sz="2689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·Garg, D., &amp; Alam, M. (2020). "An effective crop recommendation method using machine learning techniques." International Journal of Advanced Technology and Engineering Exploration.</a:t>
            </a:r>
          </a:p>
          <a:p>
            <a:pPr algn="just" marL="580592" indent="-290296" lvl="1">
              <a:lnSpc>
                <a:spcPts val="3764"/>
              </a:lnSpc>
              <a:buAutoNum type="arabicPeriod" startAt="1"/>
            </a:pPr>
            <a:r>
              <a:rPr lang="en-US" b="true" sz="2689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·Hossain, S., Prova, N. N. I., Sadik, M. R., &amp; Al Maruf, A. (2020). "Enhancing Crop Management: Ensemble Machine Learning for Real-Time Crop Recommendation System from Sensor Data."</a:t>
            </a:r>
          </a:p>
          <a:p>
            <a:pPr algn="just" marL="580592" indent="-290296" lvl="1">
              <a:lnSpc>
                <a:spcPts val="3764"/>
              </a:lnSpc>
              <a:buAutoNum type="arabicPeriod" startAt="1"/>
            </a:pPr>
            <a:r>
              <a:rPr lang="en-US" b="true" sz="2689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·Sladojevic, S., Arsenovic, M., Anderla, A., Culibrk, D., &amp; Stefanovic, D. (2016). "Deep neural networks based recognition of plant diseases by leaf image classification."</a:t>
            </a:r>
          </a:p>
          <a:p>
            <a:pPr algn="just" marL="580592" indent="-290296" lvl="1">
              <a:lnSpc>
                <a:spcPts val="3764"/>
              </a:lnSpc>
              <a:buAutoNum type="arabicPeriod" startAt="1"/>
            </a:pPr>
            <a:r>
              <a:rPr lang="en-US" b="true" sz="2689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·Barbedo, J. G. A. (2019). "Plant d</a:t>
            </a:r>
            <a:r>
              <a:rPr lang="en-US" b="true" sz="2689">
                <a:solidFill>
                  <a:srgbClr val="A4835C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isease identification from individual lesions and spots using deep learning." Biosystems Engineering, 180, 96-107.</a:t>
            </a:r>
          </a:p>
          <a:p>
            <a:pPr algn="just">
              <a:lnSpc>
                <a:spcPts val="3484"/>
              </a:lnSpc>
            </a:pPr>
          </a:p>
          <a:p>
            <a:pPr algn="just">
              <a:lnSpc>
                <a:spcPts val="3484"/>
              </a:lnSpc>
            </a:pPr>
          </a:p>
          <a:p>
            <a:pPr algn="just">
              <a:lnSpc>
                <a:spcPts val="3484"/>
              </a:lnSpc>
            </a:pPr>
          </a:p>
          <a:p>
            <a:pPr algn="just">
              <a:lnSpc>
                <a:spcPts val="348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2802904" y="9019220"/>
            <a:ext cx="3465428" cy="3943588"/>
          </a:xfrm>
          <a:custGeom>
            <a:avLst/>
            <a:gdLst/>
            <a:ahLst/>
            <a:cxnLst/>
            <a:rect r="r" b="b" t="t" l="l"/>
            <a:pathLst>
              <a:path h="3943588" w="3465428">
                <a:moveTo>
                  <a:pt x="0" y="0"/>
                </a:moveTo>
                <a:lnTo>
                  <a:pt x="3465428" y="0"/>
                </a:lnTo>
                <a:lnTo>
                  <a:pt x="3465428" y="3943588"/>
                </a:lnTo>
                <a:lnTo>
                  <a:pt x="0" y="3943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63882" y="8045750"/>
            <a:ext cx="3390836" cy="3132284"/>
          </a:xfrm>
          <a:custGeom>
            <a:avLst/>
            <a:gdLst/>
            <a:ahLst/>
            <a:cxnLst/>
            <a:rect r="r" b="b" t="t" l="l"/>
            <a:pathLst>
              <a:path h="3132284" w="3390836">
                <a:moveTo>
                  <a:pt x="0" y="0"/>
                </a:moveTo>
                <a:lnTo>
                  <a:pt x="3390836" y="0"/>
                </a:lnTo>
                <a:lnTo>
                  <a:pt x="3390836" y="3132285"/>
                </a:lnTo>
                <a:lnTo>
                  <a:pt x="0" y="31322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35098">
            <a:off x="17012790" y="5558490"/>
            <a:ext cx="2550420" cy="2355951"/>
          </a:xfrm>
          <a:custGeom>
            <a:avLst/>
            <a:gdLst/>
            <a:ahLst/>
            <a:cxnLst/>
            <a:rect r="r" b="b" t="t" l="l"/>
            <a:pathLst>
              <a:path h="2355951" w="2550420">
                <a:moveTo>
                  <a:pt x="0" y="0"/>
                </a:moveTo>
                <a:lnTo>
                  <a:pt x="2550420" y="0"/>
                </a:lnTo>
                <a:lnTo>
                  <a:pt x="2550420" y="2355951"/>
                </a:lnTo>
                <a:lnTo>
                  <a:pt x="0" y="2355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880940">
            <a:off x="-859658" y="693803"/>
            <a:ext cx="3227254" cy="4927105"/>
          </a:xfrm>
          <a:custGeom>
            <a:avLst/>
            <a:gdLst/>
            <a:ahLst/>
            <a:cxnLst/>
            <a:rect r="r" b="b" t="t" l="l"/>
            <a:pathLst>
              <a:path h="4927105" w="3227254">
                <a:moveTo>
                  <a:pt x="3227254" y="0"/>
                </a:moveTo>
                <a:lnTo>
                  <a:pt x="0" y="0"/>
                </a:lnTo>
                <a:lnTo>
                  <a:pt x="0" y="4927105"/>
                </a:lnTo>
                <a:lnTo>
                  <a:pt x="3227254" y="4927105"/>
                </a:lnTo>
                <a:lnTo>
                  <a:pt x="322725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700000">
            <a:off x="-367506" y="-2305346"/>
            <a:ext cx="1826987" cy="4610693"/>
          </a:xfrm>
          <a:custGeom>
            <a:avLst/>
            <a:gdLst/>
            <a:ahLst/>
            <a:cxnLst/>
            <a:rect r="r" b="b" t="t" l="l"/>
            <a:pathLst>
              <a:path h="4610693" w="1826987">
                <a:moveTo>
                  <a:pt x="1826987" y="0"/>
                </a:moveTo>
                <a:lnTo>
                  <a:pt x="0" y="0"/>
                </a:lnTo>
                <a:lnTo>
                  <a:pt x="0" y="4610692"/>
                </a:lnTo>
                <a:lnTo>
                  <a:pt x="1826987" y="4610692"/>
                </a:lnTo>
                <a:lnTo>
                  <a:pt x="1826987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862344">
            <a:off x="2042299" y="-3686438"/>
            <a:ext cx="5543601" cy="5399367"/>
          </a:xfrm>
          <a:custGeom>
            <a:avLst/>
            <a:gdLst/>
            <a:ahLst/>
            <a:cxnLst/>
            <a:rect r="r" b="b" t="t" l="l"/>
            <a:pathLst>
              <a:path h="5399367" w="5543601">
                <a:moveTo>
                  <a:pt x="0" y="0"/>
                </a:moveTo>
                <a:lnTo>
                  <a:pt x="5543601" y="0"/>
                </a:lnTo>
                <a:lnTo>
                  <a:pt x="5543601" y="5399367"/>
                </a:lnTo>
                <a:lnTo>
                  <a:pt x="0" y="53993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233907" y="-4481194"/>
            <a:ext cx="8550234" cy="8229600"/>
          </a:xfrm>
          <a:custGeom>
            <a:avLst/>
            <a:gdLst/>
            <a:ahLst/>
            <a:cxnLst/>
            <a:rect r="r" b="b" t="t" l="l"/>
            <a:pathLst>
              <a:path h="8229600" w="8550234">
                <a:moveTo>
                  <a:pt x="0" y="0"/>
                </a:moveTo>
                <a:lnTo>
                  <a:pt x="8550233" y="0"/>
                </a:lnTo>
                <a:lnTo>
                  <a:pt x="855023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054723" y="7063235"/>
            <a:ext cx="8550234" cy="8229600"/>
          </a:xfrm>
          <a:custGeom>
            <a:avLst/>
            <a:gdLst/>
            <a:ahLst/>
            <a:cxnLst/>
            <a:rect r="r" b="b" t="t" l="l"/>
            <a:pathLst>
              <a:path h="8229600" w="8550234">
                <a:moveTo>
                  <a:pt x="0" y="0"/>
                </a:moveTo>
                <a:lnTo>
                  <a:pt x="8550234" y="0"/>
                </a:lnTo>
                <a:lnTo>
                  <a:pt x="85502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56763" y="7383999"/>
            <a:ext cx="3651885" cy="8229600"/>
          </a:xfrm>
          <a:custGeom>
            <a:avLst/>
            <a:gdLst/>
            <a:ahLst/>
            <a:cxnLst/>
            <a:rect r="r" b="b" t="t" l="l"/>
            <a:pathLst>
              <a:path h="8229600" w="3651885">
                <a:moveTo>
                  <a:pt x="0" y="0"/>
                </a:moveTo>
                <a:lnTo>
                  <a:pt x="3651885" y="0"/>
                </a:lnTo>
                <a:lnTo>
                  <a:pt x="365188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14301621" y="-5072245"/>
            <a:ext cx="3651885" cy="8229600"/>
          </a:xfrm>
          <a:custGeom>
            <a:avLst/>
            <a:gdLst/>
            <a:ahLst/>
            <a:cxnLst/>
            <a:rect r="r" b="b" t="t" l="l"/>
            <a:pathLst>
              <a:path h="8229600" w="3651885">
                <a:moveTo>
                  <a:pt x="0" y="8229600"/>
                </a:moveTo>
                <a:lnTo>
                  <a:pt x="3651885" y="8229600"/>
                </a:lnTo>
                <a:lnTo>
                  <a:pt x="3651885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93378" y="4098005"/>
            <a:ext cx="14234186" cy="217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03"/>
              </a:lnSpc>
            </a:pPr>
            <a:r>
              <a:rPr lang="en-US" sz="12645">
                <a:solidFill>
                  <a:srgbClr val="6E4823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